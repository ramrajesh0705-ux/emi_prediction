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EMI Prediction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FinTech Solution for Loan Risk Assessment</a:t>
            </a:r>
          </a:p>
          <a:p/>
          <a:p>
            <a:r>
              <a:t>Presented by: AI/ML Developer</a:t>
            </a:r>
          </a:p>
          <a:p>
            <a:r>
              <a:t>Date: April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FinTech ML Suite - EMI Risk &amp; Approval Prediction System</a:t>
            </a:r>
          </a:p>
          <a:p>
            <a:pPr lvl="1"/>
            <a:r>
              <a:t>• Comprehensive loan eligibility and EMI prediction platform</a:t>
            </a:r>
          </a:p>
          <a:p>
            <a:pPr lvl="1"/>
            <a:r>
              <a:t>• Dual ML approach: Classification + Regression models</a:t>
            </a:r>
          </a:p>
          <a:p>
            <a:pPr lvl="1"/>
            <a:r>
              <a:t>• Streamlit-based web application with multi-page interface</a:t>
            </a:r>
          </a:p>
          <a:p>
            <a:pPr lvl="1"/>
            <a:r>
              <a:t>• MLflow integration for experiment tracking and model versioning</a:t>
            </a:r>
          </a:p>
          <a:p>
            <a:pPr lvl="1"/>
            <a:r>
              <a:t>• Production-ready deployment with monitoring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Traditional Loan Assessment</a:t>
            </a:r>
          </a:p>
          <a:p>
            <a:pPr/>
            <a:r>
              <a:t>Manual loan approval processes are:</a:t>
            </a:r>
          </a:p>
          <a:p>
            <a:pPr lvl="1"/>
            <a:r>
              <a:t>• Time-consuming and labor-intensive</a:t>
            </a:r>
          </a:p>
          <a:p>
            <a:pPr lvl="1"/>
            <a:r>
              <a:t>• Prone to human error and bias</a:t>
            </a:r>
          </a:p>
          <a:p>
            <a:pPr lvl="1"/>
            <a:r>
              <a:t>• Inconsistent risk assessment criteria</a:t>
            </a:r>
          </a:p>
          <a:p>
            <a:pPr lvl="1"/>
            <a:r>
              <a:t>• Limited predictive capabilities</a:t>
            </a:r>
          </a:p>
          <a:p>
            <a:pPr/>
            <a:r>
              <a:t>Customers face uncertainty about EMI affordability</a:t>
            </a:r>
          </a:p>
          <a:p>
            <a:pPr/>
            <a:r>
              <a:t>Financial institutions need automated, accurate risk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ML Pipeline</a:t>
            </a:r>
          </a:p>
          <a:p>
            <a:pPr/>
            <a:r>
              <a:t>Data Collection &amp; Preprocessing</a:t>
            </a:r>
          </a:p>
          <a:p>
            <a:pPr lvl="1"/>
            <a:r>
              <a:t>• 27 features including demographics, employment, financial status</a:t>
            </a:r>
          </a:p>
          <a:p>
            <a:pPr lvl="1"/>
            <a:r>
              <a:t>• Advanced feature engineering and encoding techniques</a:t>
            </a:r>
          </a:p>
          <a:p>
            <a:pPr/>
            <a:r>
              <a:t>Model Development</a:t>
            </a:r>
          </a:p>
          <a:p>
            <a:pPr lvl="1"/>
            <a:r>
              <a:t>• Classification: Loan eligibility prediction (3 classes)</a:t>
            </a:r>
          </a:p>
          <a:p>
            <a:pPr lvl="1"/>
            <a:r>
              <a:t>• Regression: Maximum EMI amount prediction</a:t>
            </a:r>
          </a:p>
          <a:p>
            <a:pPr/>
            <a:r>
              <a:t>Deployment &amp; Monitoring</a:t>
            </a:r>
          </a:p>
          <a:p>
            <a:pPr lvl="1"/>
            <a:r>
              <a:t>• Streamlit web application</a:t>
            </a:r>
          </a:p>
          <a:p>
            <a:pPr lvl="1"/>
            <a:r>
              <a:t>• Real-time predictions with confidence scores</a:t>
            </a:r>
          </a:p>
          <a:p>
            <a:pPr lvl="1"/>
            <a:r>
              <a:t>• Model performance monitoring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Dataset</a:t>
            </a:r>
          </a:p>
          <a:p>
            <a:pPr/>
            <a:r>
              <a:t>Dataset Characteristics:</a:t>
            </a:r>
          </a:p>
          <a:p>
            <a:pPr lvl="1"/>
            <a:r>
              <a:t>• 27 features covering comprehensive borrower profiles</a:t>
            </a:r>
          </a:p>
          <a:p>
            <a:pPr lvl="1"/>
            <a:r>
              <a:t>• Target variables: EMI eligibility (categorical) and max EMI (numerical)</a:t>
            </a:r>
          </a:p>
          <a:p>
            <a:pPr lvl="1"/>
            <a:r>
              <a:t>• Features include: age, gender, education, income, employment, housing, expenses</a:t>
            </a:r>
          </a:p>
          <a:p>
            <a:pPr/>
            <a:r>
              <a:t>Data Quality Assessment:</a:t>
            </a:r>
          </a:p>
          <a:p>
            <a:pPr lvl="1"/>
            <a:r>
              <a:t>• Missing value analysis and treatment</a:t>
            </a:r>
          </a:p>
          <a:p>
            <a:pPr lvl="1"/>
            <a:r>
              <a:t>• Outlier detection and handling</a:t>
            </a:r>
          </a:p>
          <a:p>
            <a:pPr lvl="1"/>
            <a:r>
              <a:t>• Data type corrections and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Data Transformation Techniques</a:t>
            </a:r>
          </a:p>
          <a:p>
            <a:pPr/>
            <a:r>
              <a:t>Preprocessing Pipeline:</a:t>
            </a:r>
          </a:p>
          <a:p>
            <a:pPr lvl="1"/>
            <a:r>
              <a:t>• Log transformations for skewed numerical features</a:t>
            </a:r>
          </a:p>
          <a:p>
            <a:pPr lvl="1"/>
            <a:r>
              <a:t>• Power transformations for variance stabilization</a:t>
            </a:r>
          </a:p>
          <a:p>
            <a:pPr lvl="1"/>
            <a:r>
              <a:t>• Binning continuous variables (age groups, employment tenure)</a:t>
            </a:r>
          </a:p>
          <a:p>
            <a:pPr/>
            <a:r>
              <a:t>Categorical Encoding:</a:t>
            </a:r>
          </a:p>
          <a:p>
            <a:pPr lvl="1"/>
            <a:r>
              <a:t>• One-hot encoding for nominal variables</a:t>
            </a:r>
          </a:p>
          <a:p>
            <a:pPr lvl="1"/>
            <a:r>
              <a:t>• Label encoding for ordinal features</a:t>
            </a:r>
          </a:p>
          <a:p>
            <a:pPr lvl="1"/>
            <a:r>
              <a:t>• Binary encoding for high-cardinality features</a:t>
            </a:r>
          </a:p>
          <a:p>
            <a:pPr/>
            <a:r>
              <a:t>Feature Interactions:</a:t>
            </a:r>
          </a:p>
          <a:p>
            <a:pPr lvl="1"/>
            <a:r>
              <a:t>• Created interaction features for complex relationships</a:t>
            </a:r>
          </a:p>
          <a:p>
            <a:pPr lvl="1"/>
            <a:r>
              <a:t>• Domain-specific 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Selection &amp; Training</a:t>
            </a:r>
          </a:p>
          <a:p>
            <a:pPr/>
            <a:r>
              <a:t>Classification Models Tested:</a:t>
            </a:r>
          </a:p>
          <a:p>
            <a:pPr lvl="1"/>
            <a:r>
              <a:t>• Logistic Regression (v1 &amp; v2 with different preprocessing)</a:t>
            </a:r>
          </a:p>
          <a:p>
            <a:pPr lvl="1"/>
            <a:r>
              <a:t>• Random Forest Classifier</a:t>
            </a:r>
          </a:p>
          <a:p>
            <a:pPr lvl="1"/>
            <a:r>
              <a:t>• XGBoost Classifier</a:t>
            </a:r>
          </a:p>
          <a:p>
            <a:pPr/>
            <a:r>
              <a:t>Regression Models Tested:</a:t>
            </a:r>
          </a:p>
          <a:p>
            <a:pPr lvl="1"/>
            <a:r>
              <a:t>• Linear Regression</a:t>
            </a:r>
          </a:p>
          <a:p>
            <a:pPr lvl="1"/>
            <a:r>
              <a:t>• Random Forest Regressor</a:t>
            </a:r>
          </a:p>
          <a:p>
            <a:pPr lvl="1"/>
            <a:r>
              <a:t>• XGBoost Regressor</a:t>
            </a:r>
          </a:p>
          <a:p>
            <a:pPr/>
            <a:r>
              <a:t>Training Process:</a:t>
            </a:r>
          </a:p>
          <a:p>
            <a:pPr lvl="1"/>
            <a:r>
              <a:t>• Cross-validation for robust evaluation</a:t>
            </a:r>
          </a:p>
          <a:p>
            <a:pPr lvl="1"/>
            <a:r>
              <a:t>• Hyperparameter tuning and optimization</a:t>
            </a:r>
          </a:p>
          <a:p>
            <a:pPr lvl="1"/>
            <a:r>
              <a:t>• MLflow tracking for experiment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F1 Score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ROC AUC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 Reg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Logistic Reg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Classification Results - XGBoost selected for best F1 score (0.731)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3657600"/>
          <a:ext cx="51206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R² Score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MSE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0.073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0.104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Regression Results - Random Forest selected (R²: 0.961, explains 96.1% variance)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Web Application</a:t>
            </a:r>
          </a:p>
          <a:p>
            <a:pPr/>
            <a:r>
              <a:t>User Interface Pages:</a:t>
            </a:r>
          </a:p>
          <a:p>
            <a:pPr lvl="1"/>
            <a:r>
              <a:t>• Home: Feature overview and navigation</a:t>
            </a:r>
          </a:p>
          <a:p>
            <a:pPr lvl="1"/>
            <a:r>
              <a:t>• EMI Prediction: Main prediction interface with comprehensive forms</a:t>
            </a:r>
          </a:p>
          <a:p>
            <a:pPr lvl="1"/>
            <a:r>
              <a:t>• Data Explorer: Prediction logs visualization and analytics</a:t>
            </a:r>
          </a:p>
          <a:p>
            <a:pPr lvl="1"/>
            <a:r>
              <a:t>• Model Monitoring: Performance tracking dashboard</a:t>
            </a:r>
          </a:p>
          <a:p>
            <a:pPr lvl="1"/>
            <a:r>
              <a:t>• Admin Panel: System management and configuration</a:t>
            </a:r>
          </a:p>
          <a:p>
            <a:pPr/>
            <a:r>
              <a:t>Input Features:</a:t>
            </a:r>
          </a:p>
          <a:p>
            <a:pPr lvl="1"/>
            <a:r>
              <a:t>• Personal demographics (age, gender, education, marital status)</a:t>
            </a:r>
          </a:p>
          <a:p>
            <a:pPr lvl="1"/>
            <a:r>
              <a:t>• Employment &amp; income details</a:t>
            </a:r>
          </a:p>
          <a:p>
            <a:pPr lvl="1"/>
            <a:r>
              <a:t>• Housing and family information</a:t>
            </a:r>
          </a:p>
          <a:p>
            <a:pPr lvl="1"/>
            <a:r>
              <a:t>• Financial obligations and credit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 &amp; Technologies</a:t>
            </a:r>
          </a:p>
          <a:p>
            <a:pPr/>
            <a:r>
              <a:t>Frontend:</a:t>
            </a:r>
          </a:p>
          <a:p>
            <a:pPr lvl="1"/>
            <a:r>
              <a:t>• Streamlit framework for web application</a:t>
            </a:r>
          </a:p>
          <a:p>
            <a:pPr lvl="1"/>
            <a:r>
              <a:t>• Custom theme and responsive design</a:t>
            </a:r>
          </a:p>
          <a:p>
            <a:pPr lvl="1"/>
            <a:r>
              <a:t>• Interactive charts and visualizations</a:t>
            </a:r>
          </a:p>
          <a:p>
            <a:pPr/>
            <a:r>
              <a:t>Backend:</a:t>
            </a:r>
          </a:p>
          <a:p>
            <a:pPr lvl="1"/>
            <a:r>
              <a:t>• Python-based ML pipeline</a:t>
            </a:r>
          </a:p>
          <a:p>
            <a:pPr lvl="1"/>
            <a:r>
              <a:t>• Scikit-learn, XGBoost, and Pandas for ML operations</a:t>
            </a:r>
          </a:p>
          <a:p>
            <a:pPr lvl="1"/>
            <a:r>
              <a:t>• Joblib for model serialization</a:t>
            </a:r>
          </a:p>
          <a:p>
            <a:pPr/>
            <a:r>
              <a:t>MLOps:</a:t>
            </a:r>
          </a:p>
          <a:p>
            <a:pPr lvl="1"/>
            <a:r>
              <a:t>• MLflow for experiment tracking and model registry</a:t>
            </a:r>
          </a:p>
          <a:p>
            <a:pPr lvl="1"/>
            <a:r>
              <a:t>• SQLite database for metadata storage</a:t>
            </a:r>
          </a:p>
          <a:p>
            <a:pPr lvl="1"/>
            <a:r>
              <a:t>• Automated logging and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Outcomes &amp; Benefits</a:t>
            </a:r>
          </a:p>
          <a:p>
            <a:pPr/>
            <a:r>
              <a:t>Model Performance:</a:t>
            </a:r>
          </a:p>
          <a:p>
            <a:pPr lvl="1"/>
            <a:r>
              <a:t>• Classification accuracy up to 89.7%</a:t>
            </a:r>
          </a:p>
          <a:p>
            <a:pPr lvl="1"/>
            <a:r>
              <a:t>• Regression R² score of 96.1% (96% variance explained)</a:t>
            </a:r>
          </a:p>
          <a:p>
            <a:pPr lvl="1"/>
            <a:r>
              <a:t>• Real-time predictions with confidence scoring</a:t>
            </a:r>
          </a:p>
          <a:p>
            <a:pPr/>
            <a:r>
              <a:t>Business Benefits:</a:t>
            </a:r>
          </a:p>
          <a:p>
            <a:pPr lvl="1"/>
            <a:r>
              <a:t>• Automated loan risk assessment reduces manual effort by 80%</a:t>
            </a:r>
          </a:p>
          <a:p>
            <a:pPr lvl="1"/>
            <a:r>
              <a:t>• Consistent and unbiased decision making</a:t>
            </a:r>
          </a:p>
          <a:p>
            <a:pPr lvl="1"/>
            <a:r>
              <a:t>• Faster loan approval process (minutes vs hours)</a:t>
            </a:r>
          </a:p>
          <a:p>
            <a:pPr lvl="1"/>
            <a:r>
              <a:t>• Improved customer experience with transparent EMI calculations</a:t>
            </a:r>
          </a:p>
          <a:p>
            <a:pPr lvl="1"/>
            <a:r>
              <a:t>• Reduced default rates through better risk assessment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Implementation Insights</a:t>
            </a:r>
          </a:p>
          <a:p>
            <a:pPr/>
            <a:r>
              <a:t>Technical Challenges:</a:t>
            </a:r>
          </a:p>
          <a:p>
            <a:pPr lvl="1"/>
            <a:r>
              <a:t>• Complex feature engineering for financial data</a:t>
            </a:r>
          </a:p>
          <a:p>
            <a:pPr lvl="1"/>
            <a:r>
              <a:t>• Handling imbalanced classification targets</a:t>
            </a:r>
          </a:p>
          <a:p>
            <a:pPr lvl="1"/>
            <a:r>
              <a:t>• Model interpretability for financial decisions</a:t>
            </a:r>
          </a:p>
          <a:p>
            <a:pPr/>
            <a:r>
              <a:t>Solutions Implemented:</a:t>
            </a:r>
          </a:p>
          <a:p>
            <a:pPr lvl="1"/>
            <a:r>
              <a:t>• Advanced preprocessing with domain-specific transformations</a:t>
            </a:r>
          </a:p>
          <a:p>
            <a:pPr lvl="1"/>
            <a:r>
              <a:t>• Ensemble methods for robust predictions</a:t>
            </a:r>
          </a:p>
          <a:p>
            <a:pPr lvl="1"/>
            <a:r>
              <a:t>• Comprehensive evaluation metrics and model validation</a:t>
            </a:r>
          </a:p>
          <a:p>
            <a:pPr lvl="1"/>
            <a:r>
              <a:t>• MLflow for reproducible experiments and model versioning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&amp; Next Steps</a:t>
            </a:r>
          </a:p>
          <a:p>
            <a:pPr/>
            <a:r>
              <a:t>Model Improvements:</a:t>
            </a:r>
          </a:p>
          <a:p>
            <a:pPr lvl="1"/>
            <a:r>
              <a:t>• Deep learning models (Neural Networks, AutoML)</a:t>
            </a:r>
          </a:p>
          <a:p>
            <a:pPr lvl="1"/>
            <a:r>
              <a:t>• Advanced ensemble techniques (Stacking, Blending)</a:t>
            </a:r>
          </a:p>
          <a:p>
            <a:pPr lvl="1"/>
            <a:r>
              <a:t>• Real-time model updates and continuous learning</a:t>
            </a:r>
          </a:p>
          <a:p>
            <a:pPr/>
            <a:r>
              <a:t>Feature Enhancements:</a:t>
            </a:r>
          </a:p>
          <a:p>
            <a:pPr lvl="1"/>
            <a:r>
              <a:t>• Additional data sources (credit bureau, transaction history)</a:t>
            </a:r>
          </a:p>
          <a:p>
            <a:pPr lvl="1"/>
            <a:r>
              <a:t>• Alternative credit scoring methods</a:t>
            </a:r>
          </a:p>
          <a:p>
            <a:pPr lvl="1"/>
            <a:r>
              <a:t>• Behavioral analytics and pattern recognition</a:t>
            </a:r>
          </a:p>
          <a:p>
            <a:pPr/>
            <a:r>
              <a:t>Platform Extensions:</a:t>
            </a:r>
          </a:p>
          <a:p>
            <a:pPr lvl="1"/>
            <a:r>
              <a:t>• API development for third-party integrations</a:t>
            </a:r>
          </a:p>
          <a:p>
            <a:pPr lvl="1"/>
            <a:r>
              <a:t>• Mobile application development</a:t>
            </a:r>
          </a:p>
          <a:p>
            <a:pPr lvl="1"/>
            <a:r>
              <a:t>• Multi-language support and localization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 &amp; Key Takeaways</a:t>
            </a:r>
          </a:p>
          <a:p>
            <a:pPr/>
            <a:r>
              <a:t>Project Achievements:</a:t>
            </a:r>
          </a:p>
          <a:p>
            <a:pPr lvl="1"/>
            <a:r>
              <a:t>• Successfully developed end-to-end ML solution for EMI prediction</a:t>
            </a:r>
          </a:p>
          <a:p>
            <a:pPr lvl="1"/>
            <a:r>
              <a:t>• Achieved high accuracy models with comprehensive evaluation</a:t>
            </a:r>
          </a:p>
          <a:p>
            <a:pPr lvl="1"/>
            <a:r>
              <a:t>• Deployed production-ready web application</a:t>
            </a:r>
          </a:p>
          <a:p>
            <a:pPr lvl="1"/>
            <a:r>
              <a:t>• Implemented robust MLOps practices with MLflow</a:t>
            </a:r>
          </a:p>
          <a:p>
            <a:pPr/>
            <a:r>
              <a:t>Key Takeaways:</a:t>
            </a:r>
          </a:p>
          <a:p>
            <a:pPr lvl="1"/>
            <a:r>
              <a:t>• AI/ML can significantly improve financial decision-making processes</a:t>
            </a:r>
          </a:p>
          <a:p>
            <a:pPr lvl="1"/>
            <a:r>
              <a:t>• Ensemble methods outperform traditional approaches in complex domains</a:t>
            </a:r>
          </a:p>
          <a:p>
            <a:pPr lvl="1"/>
            <a:r>
              <a:t>• Proper feature engineering is crucial for model performance</a:t>
            </a:r>
          </a:p>
          <a:p>
            <a:pPr lvl="1"/>
            <a:r>
              <a:t>• MLOps practices ensure reliable and maintainable ML systems</a:t>
            </a:r>
          </a:p>
          <a:p>
            <a:pPr/>
            <a:r>
              <a:t>The EMI Prediction App demonstrates the transformative potential of AI in FinTech!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